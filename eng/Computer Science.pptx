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Inter"/>
      <p:italic r:id="rId13"/>
    </p:embeddedFont>
    <p:embeddedFont>
      <p:font typeface="Space Grotesk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463480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13484" y="2185094"/>
            <a:ext cx="59650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8BDF8"/>
                </a:solidFill>
                <a:latin typeface="Inter"/>
              </a:rPr>
              <a:t>LVIV POLYTECHNIC 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4252" y="2642294"/>
            <a:ext cx="7963495" cy="754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FFFFF"/>
                </a:solidFill>
                <a:latin typeface="Space Grotesk"/>
              </a:rPr>
              <a:t>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625155"/>
            <a:ext cx="7143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CBD5E1"/>
                </a:solidFill>
                <a:latin typeface="Inter"/>
              </a:rPr>
              <a:t>Exploring the foundation of modern computing architecture and software engineering.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D168FA-4458-4B9A-AE3B-544C5D48542C}"/>
              </a:ext>
            </a:extLst>
          </p:cNvPr>
          <p:cNvSpPr txBox="1"/>
          <p:nvPr/>
        </p:nvSpPr>
        <p:spPr>
          <a:xfrm>
            <a:off x="9078515" y="6545648"/>
            <a:ext cx="328892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dirty="0">
                <a:solidFill>
                  <a:srgbClr val="CBD5E1"/>
                </a:solidFill>
                <a:latin typeface="Inter"/>
              </a:rPr>
              <a:t>Herasymenko Vadym KNIK-11</a:t>
            </a:r>
            <a:endParaRPr sz="1800" b="0" i="0" u="none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415754"/>
            <a:ext cx="333375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50" y="3415754"/>
            <a:ext cx="428625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400" y="3415754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1905148"/>
            <a:ext cx="11239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Space Grotesk"/>
              </a:rPr>
              <a:t>THE CORE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257573"/>
            <a:ext cx="112395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Beyond Just Writing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025354"/>
            <a:ext cx="416712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Space Grotesk"/>
              </a:rPr>
              <a:t>Algorithmic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473029"/>
            <a:ext cx="396868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Mastering complex data structures.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8450" y="4025354"/>
            <a:ext cx="416712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8450" y="4473029"/>
            <a:ext cx="32702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Understanding hardware-software bridges.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4400" y="4025354"/>
            <a:ext cx="412759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Scalable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4400" y="4473029"/>
            <a:ext cx="32702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Building robust, real-world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48400" y="4660552"/>
            <a:ext cx="5181600" cy="9144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4660552"/>
            <a:ext cx="57150" cy="914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400" y="1635472"/>
            <a:ext cx="59436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Programming on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2609877"/>
            <a:ext cx="4914900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2475"/>
              </a:lnSpc>
              <a:buFont typeface="Arial" panose="020B0604020202020204" pitchFamily="34" charset="0"/>
              <a:buChar char="•"/>
            </a:pPr>
            <a:r>
              <a:rPr sz="1650" b="1" i="0" u="none" dirty="0">
                <a:solidFill>
                  <a:srgbClr val="0284C7"/>
                </a:solidFill>
                <a:latin typeface="Inter"/>
              </a:rPr>
              <a:t>Mental Compilation: Executing logic without an 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3404372"/>
            <a:ext cx="49149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2475"/>
              </a:lnSpc>
              <a:buFont typeface="Arial" panose="020B0604020202020204" pitchFamily="34" charset="0"/>
              <a:buChar char="•"/>
            </a:pPr>
            <a:r>
              <a:rPr sz="1650" b="1" i="0" u="none" dirty="0">
                <a:solidFill>
                  <a:srgbClr val="0284C7"/>
                </a:solidFill>
                <a:latin typeface="Inter"/>
              </a:rPr>
              <a:t>Pure Focus: Writing flawless syntax under exam pressure.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4889152"/>
            <a:ext cx="4610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0F172A"/>
                </a:solidFill>
                <a:latin typeface="Inter"/>
              </a:rPr>
              <a:t>"Huge thanks to Zoreslava Yaroslavivna Shpak for this unforgettable, foundational experience."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931765"/>
            <a:ext cx="209550" cy="219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789015"/>
            <a:ext cx="266700" cy="219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646265"/>
            <a:ext cx="180975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968847"/>
            <a:ext cx="680085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Bringing Code to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" y="2898427"/>
            <a:ext cx="49149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0284C7"/>
                </a:solidFill>
                <a:latin typeface="Inter"/>
              </a:rPr>
              <a:t>Embedded C/C++: Programming physical ESP32 microcontrollers.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755677"/>
            <a:ext cx="4857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0284C7"/>
                </a:solidFill>
                <a:latin typeface="Inter"/>
              </a:rPr>
              <a:t>Internet of Things: Connecting sensors to the web.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4612927"/>
            <a:ext cx="49434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0284C7"/>
                </a:solidFill>
                <a:latin typeface="Inter"/>
              </a:rPr>
              <a:t>Instant Feedback: Controlling the physical world directly.</a:t>
            </a:r>
          </a:p>
        </p:txBody>
      </p:sp>
      <p:pic>
        <p:nvPicPr>
          <p:cNvPr id="1028" name="Picture 4" descr="Какая это модель ESP32? : r/esp32">
            <a:extLst>
              <a:ext uri="{FF2B5EF4-FFF2-40B4-BE49-F238E27FC236}">
                <a16:creationId xmlns:a16="http://schemas.microsoft.com/office/drawing/2014/main" id="{DF9CC42A-DE67-483E-B318-31456F219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2" t="17882" b="13557"/>
          <a:stretch/>
        </p:blipFill>
        <p:spPr bwMode="auto">
          <a:xfrm>
            <a:off x="7562851" y="1"/>
            <a:ext cx="46291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48400" y="2546002"/>
            <a:ext cx="5181600" cy="1295400"/>
          </a:xfrm>
          <a:prstGeom prst="roundRect">
            <a:avLst>
              <a:gd name="adj" fmla="val 882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179540"/>
            <a:ext cx="238125" cy="219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998690"/>
            <a:ext cx="209550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8400" y="1616422"/>
            <a:ext cx="59436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Learning 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2850802"/>
            <a:ext cx="4667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ADE80"/>
                </a:solidFill>
                <a:latin typeface="monospace"/>
              </a:rPr>
              <a:t>MOV AX, 0x0001</a:t>
            </a:r>
            <a:r>
              <a:rPr dirty="0"/>
              <a:t>
</a:t>
            </a:r>
            <a:r>
              <a:rPr sz="1500" b="0" i="0" u="none" dirty="0">
                <a:solidFill>
                  <a:srgbClr val="4ADE80"/>
                </a:solidFill>
                <a:latin typeface="monospace"/>
              </a:rPr>
              <a:t> ADD AX, BX</a:t>
            </a:r>
            <a:r>
              <a:rPr dirty="0"/>
              <a:t>
</a:t>
            </a:r>
            <a:r>
              <a:rPr sz="1500" b="0" i="0" u="none" dirty="0">
                <a:solidFill>
                  <a:srgbClr val="4ADE80"/>
                </a:solidFill>
                <a:latin typeface="monospace"/>
              </a:rPr>
              <a:t> ; Unforgettable emotions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4146202"/>
            <a:ext cx="48863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0284C7"/>
                </a:solidFill>
                <a:latin typeface="Inter"/>
              </a:rPr>
              <a:t>Low-Level Access: Direct CPU register manipulation.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4965352"/>
            <a:ext cx="49149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0284C7"/>
                </a:solidFill>
                <a:latin typeface="Inter"/>
              </a:rPr>
              <a:t>Bypassing Abstractions: Understanding how memory truly works.</a:t>
            </a:r>
          </a:p>
        </p:txBody>
      </p:sp>
      <p:pic>
        <p:nvPicPr>
          <p:cNvPr id="2050" name="Picture 2" descr="Assembly language - Wikipedia">
            <a:extLst>
              <a:ext uri="{FF2B5EF4-FFF2-40B4-BE49-F238E27FC236}">
                <a16:creationId xmlns:a16="http://schemas.microsoft.com/office/drawing/2014/main" id="{B2C638BB-0BFB-4902-B762-F715593CA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150" y="0"/>
            <a:ext cx="4305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52500" y="2900362"/>
            <a:ext cx="327660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57700" y="2900362"/>
            <a:ext cx="327660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62900" y="2900362"/>
            <a:ext cx="327660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3281362"/>
            <a:ext cx="4762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3281362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887" y="3281362"/>
            <a:ext cx="428625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20653" y="1804987"/>
            <a:ext cx="5550693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Space Grotesk"/>
              </a:rPr>
              <a:t>Where Does This Lead?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568" y="3890962"/>
            <a:ext cx="37004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Space Grotesk"/>
              </a:rPr>
              <a:t>Software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4271962"/>
            <a:ext cx="3524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Building high-level applications.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5768" y="3890962"/>
            <a:ext cx="37004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Space Grotesk"/>
              </a:rPr>
              <a:t>Embedded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3875" y="4271962"/>
            <a:ext cx="3524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Programming IoT and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0968" y="3890962"/>
            <a:ext cx="37004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Space Grotesk"/>
              </a:rPr>
              <a:t>Systems 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9075" y="4271962"/>
            <a:ext cx="3524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Designing complex IT infrastructures.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724712"/>
            <a:ext cx="7620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01988" y="3639112"/>
            <a:ext cx="4188023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FFFFFF"/>
                </a:solidFill>
                <a:latin typeface="Space Grotesk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179</Words>
  <Application>Microsoft Office PowerPoint</Application>
  <PresentationFormat>Широкий екран</PresentationFormat>
  <Paragraphs>32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3" baseType="lpstr">
      <vt:lpstr>Space Grotesk</vt:lpstr>
      <vt:lpstr>Inter</vt:lpstr>
      <vt:lpstr>Arial</vt:lpstr>
      <vt:lpstr>monospace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subject/>
  <dc:creator/>
  <cp:keywords/>
  <dc:description>generated using python-pptx</dc:description>
  <cp:lastModifiedBy>Vadym Herasymenko</cp:lastModifiedBy>
  <cp:revision>3</cp:revision>
  <dcterms:created xsi:type="dcterms:W3CDTF">2013-01-27T09:14:16Z</dcterms:created>
  <dcterms:modified xsi:type="dcterms:W3CDTF">2026-09-30T06:54:40Z</dcterms:modified>
  <cp:category/>
</cp:coreProperties>
</file>